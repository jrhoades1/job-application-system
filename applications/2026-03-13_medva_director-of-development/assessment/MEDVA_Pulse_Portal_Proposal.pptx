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MEDVA PULSE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27432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CD4"/>
                </a:solidFill>
                <a:latin typeface="Calibri"/>
              </a:defRPr>
            </a:pPr>
            <a:r>
              <a:t>Technical &amp; Organizational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Calibri"/>
              </a:defRPr>
            </a:pPr>
            <a:r>
              <a:t>Prepared by: Jimmy Rhoades</a:t>
            </a:r>
            <a:br/>
            <a:r>
              <a:t>Incoming Director of Development</a:t>
            </a:r>
            <a:br/>
            <a:r>
              <a:t>April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A8B8"/>
                </a:solidFill>
                <a:latin typeface="Calibri"/>
              </a:defRPr>
            </a:pPr>
            <a:r>
              <a:t>HIPAA-First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8686800" cy="685800"/>
          </a:xfrm>
          <a:prstGeom prst="roundRect">
            <a:avLst/>
          </a:prstGeom>
          <a:solidFill>
            <a:srgbClr val="2A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642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Technology Stack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D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423160"/>
            <a:ext cx="8686800" cy="685800"/>
          </a:xfrm>
          <a:prstGeom prst="roundRect">
            <a:avLst/>
          </a:prstGeom>
          <a:solidFill>
            <a:srgbClr val="2A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328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Team Composition &amp; Hiring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91840"/>
            <a:ext cx="8686800" cy="685800"/>
          </a:xfrm>
          <a:prstGeom prst="roundRect">
            <a:avLst/>
          </a:prstGeom>
          <a:solidFill>
            <a:srgbClr val="2A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401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Product Roadmap (MVP → V1 → V2)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D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160519"/>
            <a:ext cx="8686800" cy="685800"/>
          </a:xfrm>
          <a:prstGeom prst="roundRect">
            <a:avLst/>
          </a:prstGeom>
          <a:solidFill>
            <a:srgbClr val="2A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270247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251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D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029200"/>
            <a:ext cx="8686800" cy="685800"/>
          </a:xfrm>
          <a:prstGeom prst="roundRect">
            <a:avLst/>
          </a:prstGeom>
          <a:solidFill>
            <a:srgbClr val="2A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1389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Budget &amp; Vendor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D4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BCD4"/>
                </a:solidFill>
                <a:latin typeface="Calibri"/>
              </a:defRPr>
            </a:pPr>
            <a:r>
              <a:t>Recommended Stack (All HIPAA BAA-eligible)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3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029200"/>
                <a:gridCol w="5029200"/>
              </a:tblGrid>
              <a:tr h="5143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Key Reason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Next.js 15 + TypeScript + Tailwind + shadcn/ui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Fast dashboards, huge offshore React talent pool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NestJS (TypeScript) on Fargate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Full TS parity, built-in RBAC guards, modular monolith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Aurora Serverless v2 (PostgreSQL) + RLS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Tenant isolation at DB level, auto-scales to zero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AWS Cognito + NestJS Guards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MFA, SSO, HIPAA-eligible. Don't reinvent with 5 people.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AWS Bedrock (Claude) + OpenSearch Serverless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Best RAG grounding + instruction-following, HIPAA BAA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Infra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VPC + Fargate + S3 + CloudFront + WAF + KMS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Private subnets only, Fargate over EKS (no cluster tax)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GitHub Actions + Terraform + Docker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IaC everything, build/test/deploy on every PR merge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760720"/>
            <a:ext cx="91440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Internal tooling: GitHub, Linear, Figma, Notion, Slack, Claude Code (~$370/mo)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HIPAA/SOC 2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BCD4"/>
                </a:solidFill>
                <a:latin typeface="Calibri"/>
              </a:defRPr>
            </a:pPr>
            <a:r>
              <a:t>Compliance is a foundation, not a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BAA Coverage: </a:t>
            </a:r>
            <a:r>
              <a:rPr sz="1600">
                <a:solidFill>
                  <a:srgbClr val="E0E0E0"/>
                </a:solidFill>
                <a:latin typeface="Calibri"/>
              </a:rPr>
              <a:t>Every AWS service on the HIPAA BAA list. Non-BAA for PHI = violation.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Encryption: </a:t>
            </a:r>
            <a:r>
              <a:rPr sz="1600">
                <a:solidFill>
                  <a:srgbClr val="E0E0E0"/>
                </a:solidFill>
                <a:latin typeface="Calibri"/>
              </a:rPr>
              <a:t>At rest (KMS, AES-256) and in transit (TLS 1.2+). No exceptions.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Network: </a:t>
            </a:r>
            <a:r>
              <a:rPr sz="1600">
                <a:solidFill>
                  <a:srgbClr val="E0E0E0"/>
                </a:solidFill>
                <a:latin typeface="Calibri"/>
              </a:rPr>
              <a:t>VPC with private subnets only. Zero public DB access. WAF + GuardDuty.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Access: </a:t>
            </a:r>
            <a:r>
              <a:rPr sz="1600">
                <a:solidFill>
                  <a:srgbClr val="E0E0E0"/>
                </a:solidFill>
                <a:latin typeface="Calibri"/>
              </a:rPr>
              <a:t>Zero developer production access. All changes through application layer with RBAC.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Audit: </a:t>
            </a:r>
            <a:r>
              <a:rPr sz="1600">
                <a:solidFill>
                  <a:srgbClr val="E0E0E0"/>
                </a:solidFill>
                <a:latin typeface="Calibri"/>
              </a:rPr>
              <a:t>CloudTrail + custom audit tables for all data access. Immutable logs in S3.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Backup: </a:t>
            </a:r>
            <a:r>
              <a:rPr sz="1600">
                <a:solidFill>
                  <a:srgbClr val="E0E0E0"/>
                </a:solidFill>
                <a:latin typeface="Calibri"/>
              </a:rPr>
              <a:t>Daily snapshots, 30-day retention. Multi-AZ. S3 cross-region replication.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00BCD4"/>
                </a:solidFill>
                <a:latin typeface="Calibri"/>
              </a:rPr>
              <a:t>Experience: </a:t>
            </a:r>
            <a:r>
              <a:rPr sz="1600">
                <a:solidFill>
                  <a:srgbClr val="E0E0E0"/>
                </a:solidFill>
                <a:latin typeface="Calibri"/>
              </a:rPr>
              <a:t>Led SOC 2/HITRUST certification at ilumed. Compliance baked in from Day 1 costs a fraction of retrofitting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Architecture enforces compliance at the infrastructure level, not just in application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Team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BCD4"/>
                </a:solidFill>
                <a:latin typeface="Calibri"/>
              </a:defRPr>
            </a:pPr>
            <a:r>
              <a:t>4 Hires + Me (Employee #1, writing 60-70% of foundational 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5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1828800"/>
                <a:gridCol w="2560320"/>
                <a:gridCol w="2286000"/>
              </a:tblGrid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BCD4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BCD4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BCD4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BCD4"/>
                          </a:solidFill>
                          <a:latin typeface="Calibri"/>
                        </a:rPr>
                        <a:t>Salary Range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BCD4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DevOps &amp; Security Engineer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US-based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$155K - $175K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Week 1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Lead Backend Engineer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Offshore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$40K - $55K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Week 1-2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Full-Stack Engineer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Offshore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$35K - $50K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Week 2-3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UI/UX Engineer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Offshore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$25K - $40K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0E0E0"/>
                          </a:solidFill>
                          <a:latin typeface="Calibri"/>
                        </a:rPr>
                        <a:t>Month 2-3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29768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Critical first hire: US DevOps &amp; Security (HIPAA foundation must be rock-solid from Day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MVP: </a:t>
            </a:r>
            <a:r>
              <a:rPr sz="1400">
                <a:solidFill>
                  <a:srgbClr val="A0A8B8"/>
                </a:solidFill>
                <a:latin typeface="Calibri"/>
              </a:rPr>
              <a:t>Me (60-70% backend) + US DevOps + Lead Backend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V1 (AI): </a:t>
            </a:r>
            <a:r>
              <a:rPr sz="1400">
                <a:solidFill>
                  <a:srgbClr val="A0A8B8"/>
                </a:solidFill>
                <a:latin typeface="Calibri"/>
              </a:rPr>
              <a:t>I shift to Bedrock/RAG. Add contract AI/ML engineer. Lead Backend steps up.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Later: </a:t>
            </a:r>
            <a:r>
              <a:rPr sz="1400">
                <a:solidFill>
                  <a:srgbClr val="A0A8B8"/>
                </a:solidFill>
                <a:latin typeface="Calibri"/>
              </a:rPr>
              <a:t>Offshore team runs autonomously on features within established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Interview Process by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6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21792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CD4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CD4"/>
                          </a:solidFill>
                          <a:latin typeface="Calibri"/>
                        </a:rPr>
                        <a:t>Key Evaluation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CD4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DevOps &amp; Security (US)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HIPAA infra design, IaC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Infra scenario + Terraform take-home + system-design with me + John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Lead Backend (Offshore)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Tenant isolation, RBAC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Live pair-programming on tenant-isolated endpoint + English assessment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Full-Stack (Offshore)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React + API integration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Live coding + code review exercise (find issues in a PR) + portfolio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UI/UX (Offshore)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Figma-to-code, design system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  <a:latin typeface="Calibri"/>
                        </a:rPr>
                        <a:t>Live dashboard build from Figma + code review + portfolio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Offshore experience: 50+ devs across US/Ukraine/Central America (Cognizant). Built teams from zero at Red Spot and MedQuest. Async-first, 2-3 hr daily overlap, same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BCD4"/>
                </a:solidFill>
                <a:latin typeface="Calibri"/>
              </a:defRPr>
            </a:pPr>
            <a:r>
              <a:t>MVP →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566160" cy="42062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10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AWS infra + CI/CD via Terraform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Cognito auth + RBAC (5 roles)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Portal landing (Client | VA | Corp)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Client dashboard: KPIs, Cost Efficiency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VA portal: profile, schedule, alerts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Corporate: accounts, revenue, risk alerts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Secure messaging (E2E encrypted)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4CAF50"/>
                </a:solidFill>
                <a:latin typeface="Calibri"/>
              </a:rPr>
              <a:t>→ Pilot launch: 10-20% of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2062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D4"/>
                </a:solidFill>
                <a:latin typeface="Calibri"/>
              </a:defRPr>
            </a:pPr>
            <a: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+14 weeks (~6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Client KB upload + auto-indexing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Medva Frontline AI (Claude RAG)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Chat history + source citations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AI Extensions (Open Evidence, etc.)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Medva Academy (training modules)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Stripe billing (CC + ACH)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VA pay stubs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BCD4"/>
                </a:solidFill>
                <a:latin typeface="Calibri"/>
              </a:rPr>
              <a:t>→ Full client rollout + new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566160" cy="42062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Months 9-14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Matching/assignment engine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Predictive analytics (client health)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EHR integrations (Epic, Athena)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React Native mobile for VAs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Self-service client onboarding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0E0E0"/>
                </a:solidFill>
                <a:latin typeface="Calibri"/>
              </a:rPr>
              <a:t>API platform for enterprise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FFA726"/>
                </a:solidFill>
                <a:latin typeface="Calibri"/>
              </a:rPr>
              <a:t>→ Scale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Calibri"/>
              </a:defRPr>
            </a:pPr>
            <a:r>
              <a:t>Success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10-20% client adoption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&lt;2s dashboard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Zero cross-tenant incidents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Weekly active pilot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Calibri"/>
              </a:defRPr>
            </a:pPr>
            <a:r>
              <a:t>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6035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Phased migration with feature flags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6217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Dual-run validation before cutover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6400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Existing portal operates in parallel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035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Dedicated module (REST/webhooks)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6217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Background jobs + retry 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6400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External failures isolated from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Calibri"/>
              </a:defRPr>
            </a:pPr>
            <a:r>
              <a:t>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035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Automated tests (unit + API + E2E)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6217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Weekly demo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Technical Risks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8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7315200"/>
              </a:tblGrid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Data isolation / HIPAA breach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organization_id on every table + RLS + automated security scans in CI + external pen-test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Data migration delays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Start analysis Week 1, build scripts in parallel, shadow mode before cutover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Scope creep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Lock scope with John upfront. Weekly demos. Say no to anything outside pilot.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AI cross-tenant leakage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Per-client OpenSearch namespaces + mandatory org_id filter at infra level + nightly automated tests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AI hallucination / quality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RAG grounds responses in docs. Confidence scoring. Low-confidence flagged for human review.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AI cost overrun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Per-client usage quotas, prompt caching, cost-efficient model tier first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Offshore ramp-up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US DevOps first as insurance. Async-first: specs, Loom walkthroughs, 2-3 hr daily overlap.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097280"/>
            <a:ext cx="9418320" cy="50292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Clients  |  Virtual Assistants  |  MEDVA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920240"/>
            <a:ext cx="9418320" cy="50292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AWS WAF  →  Cognito Auth (MFA + SSO + RBAC)  →  Next.js 15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743200"/>
            <a:ext cx="9418320" cy="50292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788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NestJS API (Fargate)  |  RBAC Guards  |  Tenant Context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566160"/>
            <a:ext cx="2926080" cy="1005840"/>
          </a:xfrm>
          <a:prstGeom prst="roundRect">
            <a:avLst/>
          </a:prstGeom>
          <a:solidFill>
            <a:srgbClr val="2A3C55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Aurora Serverless v2</a:t>
            </a:r>
          </a:p>
          <a:p>
            <a:pPr algn="ctr"/>
            <a:r>
              <a:rPr sz="1400" b="0">
                <a:solidFill>
                  <a:srgbClr val="A0A8B8"/>
                </a:solidFill>
                <a:latin typeface="Calibri"/>
              </a:rPr>
              <a:t>PostgreSQL + RLS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566160"/>
            <a:ext cx="2926080" cy="1005840"/>
          </a:xfrm>
          <a:prstGeom prst="roundRect">
            <a:avLst/>
          </a:prstGeom>
          <a:solidFill>
            <a:srgbClr val="2A3C55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S3 (KMS Encrypted)</a:t>
            </a:r>
          </a:p>
          <a:p>
            <a:pPr algn="ctr"/>
            <a:r>
              <a:rPr sz="1400" b="0">
                <a:solidFill>
                  <a:srgbClr val="A0A8B8"/>
                </a:solidFill>
                <a:latin typeface="Calibri"/>
              </a:rPr>
              <a:t>Client KB Documents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566160"/>
            <a:ext cx="2926080" cy="1005840"/>
          </a:xfrm>
          <a:prstGeom prst="roundRect">
            <a:avLst/>
          </a:prstGeom>
          <a:solidFill>
            <a:srgbClr val="2A3C55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Bedrock (Claude)</a:t>
            </a:r>
          </a:p>
          <a:p>
            <a:pPr algn="ctr"/>
            <a:r>
              <a:rPr sz="1400" b="0">
                <a:solidFill>
                  <a:srgbClr val="A0A8B8"/>
                </a:solidFill>
                <a:latin typeface="Calibri"/>
              </a:rPr>
              <a:t>+ OpenSearch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Calibri"/>
              </a:defRPr>
            </a:pPr>
            <a:r>
              <a:t>CloudWatch  |  GuardDuty  |  CloudTrail  |  KMS  |  Secrets Manager  |  Stripe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9496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All traffic in private subnets. All data encrypted at rest + in transit. Zero public DB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 &amp; Multi-Tenancy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Calibri"/>
              </a:defRPr>
            </a:pPr>
            <a:r>
              <a:t>Authentication &amp;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Cognito: </a:t>
            </a:r>
            <a:r>
              <a:rPr sz="1400">
                <a:solidFill>
                  <a:srgbClr val="E0E0E0"/>
                </a:solidFill>
                <a:latin typeface="Calibri"/>
              </a:rPr>
              <a:t>MFA (required for PHI), SSO (SAML/OIDC), user pools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JWT: </a:t>
            </a:r>
            <a:r>
              <a:rPr sz="1400">
                <a:solidFill>
                  <a:srgbClr val="E0E0E0"/>
                </a:solidFill>
                <a:latin typeface="Calibri"/>
              </a:rPr>
              <a:t>15-min access tokens, 7-day rotating refresh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5 roles: </a:t>
            </a:r>
            <a:r>
              <a:rPr sz="1400">
                <a:solidFill>
                  <a:srgbClr val="E0E0E0"/>
                </a:solidFill>
                <a:latin typeface="Calibri"/>
              </a:rPr>
              <a:t>Client Admin, Client User, VA, MEDVA Corporate, MEDVA Admin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Defense in depth: </a:t>
            </a:r>
            <a:r>
              <a:rPr sz="1400">
                <a:solidFill>
                  <a:srgbClr val="E0E0E0"/>
                </a:solidFill>
                <a:latin typeface="Calibri"/>
              </a:rPr>
              <a:t>App-level RBAC + DB-level RLS (two independent layers)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Calibri"/>
              </a:defRPr>
            </a:pPr>
            <a:r>
              <a:t>Multi-Tenancy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>
                <a:solidFill>
                  <a:srgbClr val="E0E0E0"/>
                </a:solidFill>
                <a:latin typeface="Calibri"/>
              </a:rPr>
              <a:t>Shared DB, logical isolation via organization_id + PostgreSQL RLS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>
                <a:solidFill>
                  <a:srgbClr val="E0E0E0"/>
                </a:solidFill>
                <a:latin typeface="Calibri"/>
              </a:rPr>
              <a:t>RLS enforced at DB level -- even buggy app code can't leak tenant data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>
                <a:solidFill>
                  <a:srgbClr val="E0E0E0"/>
                </a:solidFill>
                <a:latin typeface="Calibri"/>
              </a:rPr>
              <a:t>Why not separate DBs? 1,000+ clients = unmanageable migrations + no cross-tenant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Even if application logic has a bug, the database won't return another tenant's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KB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BCD4"/>
                </a:solidFill>
                <a:latin typeface="Calibri"/>
              </a:defRPr>
            </a:pPr>
            <a:r>
              <a:t>How We Guarantee No Cross-Tenant Leakage (Highest HIPAA Risk Area)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81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Client uploads document → S3 under tenant_id/ prefix, encrypted via KMS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76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Async pipeline (SQS + Lambda): parse, chunk, embed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614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706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Embeddings stored in OpenSearch with org_id metadata tag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55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649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VA asks question → OpenSearch query with mandatory org_id filter (infrastructure-level)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502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593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Retrieved chunks + question sent to Claude via Bedrock (stateless -- no data persists)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44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537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Response returned with source citations from that client's KB only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48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Nightly automated cross-tenant tests -- must return zero results or pipeline stops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HIPAA-safe by design. Bedrock is stateless. Isolation is enforced at infrastructure level, not application level.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Budget &amp; Vendor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Calibri"/>
              </a:defRPr>
            </a:pPr>
            <a:r>
              <a:t>Monthly Cloud Infrastructure (10-20% adoption)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73152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Est. Monthly Cost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Key Drivers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$800 - $1,200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Aurora Serverless (scales to zero), Fargate, S3, CloudFront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$2,200 - $2,900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+ Bedrock inference ($500-$1,200 variable), OpenSearch, Lambda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Full Adoption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$8K - $12K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Linear scaling with Fargate auto-scale + Bedrock usage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Annual Team Cost (4 hires): ~$330K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Software Licensing: ~$400/mo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US DevOps ~$195K | Lead Backend ~$52K | Full-Stack ~$46K | UI/UX ~$37K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GitHub, Linear, Figma, Notion, Slack, Claude Code, 1Password, Sentry, PagerDuty. Stripe fees pass-through.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Calibri"/>
              </a:defRPr>
            </a:pPr>
            <a:r>
              <a:t>Cost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Aurora Serverless: </a:t>
            </a:r>
            <a:r>
              <a:rPr sz="1400">
                <a:solidFill>
                  <a:srgbClr val="A0A8B8"/>
                </a:solidFill>
                <a:latin typeface="Calibri"/>
              </a:rPr>
              <a:t>auto-scales to near-zero off-hours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Savings Plans: </a:t>
            </a:r>
            <a:r>
              <a:rPr sz="1400">
                <a:solidFill>
                  <a:srgbClr val="A0A8B8"/>
                </a:solidFill>
                <a:latin typeface="Calibri"/>
              </a:rPr>
              <a:t>1-year compute after MVP (~35% savings)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Fargate Spot: </a:t>
            </a:r>
            <a:r>
              <a:rPr sz="1400">
                <a:solidFill>
                  <a:srgbClr val="A0A8B8"/>
                </a:solidFill>
                <a:latin typeface="Calibri"/>
              </a:rPr>
              <a:t>batch processing at up to 70% discount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Calibri"/>
              </a:rPr>
              <a:t>Bedrock: </a:t>
            </a:r>
            <a:r>
              <a:rPr sz="1400">
                <a:solidFill>
                  <a:srgbClr val="A0A8B8"/>
                </a:solidFill>
                <a:latin typeface="Calibri"/>
              </a:rPr>
              <a:t>per-client quotas, prompt caching, cost-efficient tier first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Monthly FinOps reviews with budget alerts at 80% and 100%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 vs. Buy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13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64922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BUY (Cognito)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Mature + BAA-covered. Don't reinvent with 5 people.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Messaging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Core differentiator + E2E encryption. SendBird scales poorly at 5K+ VAs.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Medva Frontline AI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BUILD RAG + Claude via Bedrock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We own the pipeline + isolation. Strongest model for grounding responses in retrieved docs.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Medva Academy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BUILD (V1)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Mock-up shows deep portal integration. Thinkific can't deliver this.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AI Extensions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BUILD framework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Pluggable architecture. Third-party vendors provide AI via API.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IT Ticketing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INTEGRATE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Not a differentiator. Zendesk/Freshdesk via API.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BUY (Stripe)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PCI compliance out of the box. Never build payment processing.</a:t>
                      </a: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CRM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INTEGRATE (HubSpot)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0E0E0"/>
                          </a:solidFill>
                          <a:latin typeface="Calibri"/>
                        </a:rPr>
                        <a:t>Already in use. Bi-directional sync, don't replace.</a:t>
                      </a:r>
                    </a:p>
                  </a:txBody>
                  <a:tcPr anchor="ctr">
                    <a:solidFill>
                      <a:srgbClr val="23334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0058400" cy="548640"/>
          </a:xfrm>
          <a:prstGeom prst="roundRect">
            <a:avLst/>
          </a:prstGeom>
          <a:solidFill>
            <a:srgbClr val="2A3C55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if it's a core differentiator or touches PHI. Buy if it's commodity. Integrate if MEDVA already uses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Building from scratch (no legacy dependencies to inherit)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AWS account with active BAA available or will be provisioned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API/data access to current systems available for migration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Offshore hiring leverages MEDVA's existing Philippines HR infrastructure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10-20% adoption (100-200 clients) for cost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515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8B8"/>
                </a:solidFill>
                <a:latin typeface="Calibri"/>
              </a:defRPr>
            </a:pPr>
            <a:r>
              <a:t>Happy to go deeper on any section in the walkthrough.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Jimmy Rhoades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jimmyrhoades1@gmail.com  |  770.331.7637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8B8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